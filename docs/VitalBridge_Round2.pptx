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oval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82880"/>
            <a:ext cx="1828800" cy="1828800"/>
          </a:xfrm>
          <a:prstGeom prst="oval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0040"/>
            <a:ext cx="3291840" cy="329184"/>
          </a:xfrm>
          <a:prstGeom prst="roundRect">
            <a:avLst>
              <a:gd name="adj" fmla="val 2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BHARAT ACADEMIX CODEQUEST 2026 — ROUND 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VitalBridge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Healthcare Continuum Platform for Bharat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with Drug Interaction Checking · Predictive Readmission · Household Health Graph · AI Handoff Notes · Vaccination Drive Planner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783080" cy="274320"/>
          </a:xfrm>
          <a:prstGeom prst="roundRect">
            <a:avLst>
              <a:gd name="adj" fmla="val 26667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17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Tech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77440" y="3017520"/>
            <a:ext cx="1783080" cy="274320"/>
          </a:xfrm>
          <a:prstGeom prst="roundRect">
            <a:avLst>
              <a:gd name="adj" fmla="val 26667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017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97680" y="3017520"/>
            <a:ext cx="1783080" cy="274320"/>
          </a:xfrm>
          <a:prstGeom prst="roundRect">
            <a:avLst>
              <a:gd name="adj" fmla="val 26667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3017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1783080" cy="274320"/>
          </a:xfrm>
          <a:prstGeom prst="roundRect">
            <a:avLst>
              <a:gd name="adj" fmla="val 26667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017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5029200" cy="1325880"/>
          </a:xfrm>
          <a:prstGeom prst="roundRect">
            <a:avLst>
              <a:gd name="adj" fmla="val 827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93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CIPHER STRIKE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86791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Jayaraj A  |  AI/ML Engineer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Jerwin Titus D  |  Full Stack Developer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Daphne Christina Nelson  |  IoT &amp; Systems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Karunya Institute of Technology and Sciences</a:t>
            </a:r>
            <a:endParaRPr lang="en-US" sz="10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35661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Healthcare Crisis Is a Three-Gap Emergency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million rural Indians have no reliable access to healthcare. Here is why.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19202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1:1,456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24256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Doctor-to-patient ratio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(WHO: 1:1,000)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1664208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737360"/>
            <a:ext cx="19202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70/30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06040" y="224256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Urban/rural infra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(inverted)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664208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737360"/>
            <a:ext cx="19202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3–4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54880" y="224256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most diseases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in rural India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03720" y="1664208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737360"/>
            <a:ext cx="19202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&lt;40%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03720" y="224256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adherence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rural areas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9748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090672"/>
            <a:ext cx="34747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24128" y="3063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Gap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1792" y="3456432"/>
            <a:ext cx="242316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rural patients travel 30+ km for consultation. Early symptoms go undiagnosed until critical Stage 3–4.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291840" y="2926080"/>
            <a:ext cx="269748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3090672"/>
            <a:ext cx="347472" cy="34747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858768" y="3063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Medication Gap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3456432" y="3456432"/>
            <a:ext cx="242316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 (diabetes, TB, hypertension) adherence below 40%. Prescriptions lost, doses missed, lives cut short.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6126480" y="2926080"/>
            <a:ext cx="269748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090672"/>
            <a:ext cx="347472" cy="3474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693408" y="3063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Gap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291072" y="3456432"/>
            <a:ext cx="242316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unified health record. Every hospital visit starts from zero — wasting time, money, and clinical context.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STAKEHOLDERS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Suffers — and How VitalBridge Serves Them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key user groups, each with distinct unmet needs.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011680" cy="3017520"/>
          </a:xfrm>
          <a:prstGeom prst="roundRect">
            <a:avLst>
              <a:gd name="adj" fmla="val 6364"/>
            </a:avLst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18745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432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Rural Patients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1792" y="2816352"/>
            <a:ext cx="16916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nearby doctor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medical history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travel costs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606040" y="1737360"/>
            <a:ext cx="2011680" cy="3017520"/>
          </a:xfrm>
          <a:prstGeom prst="roundRect">
            <a:avLst>
              <a:gd name="adj" fmla="val 6364"/>
            </a:avLst>
          </a:prstGeom>
          <a:solidFill>
            <a:srgbClr val="F8FAFC"/>
          </a:solidFill>
          <a:ln w="190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8745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2432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PHC Doctors &amp; Nurses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770632" y="2816352"/>
            <a:ext cx="16916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 history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 with patients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outbreak tracking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754880" y="1737360"/>
            <a:ext cx="2011680" cy="3017520"/>
          </a:xfrm>
          <a:prstGeom prst="roundRect">
            <a:avLst>
              <a:gd name="adj" fmla="val 6364"/>
            </a:avLst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87452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4880" y="2432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ASHA Workers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919472" y="2816352"/>
            <a:ext cx="16916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tools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household tracking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disease alerts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medication follow-up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903720" y="1737360"/>
            <a:ext cx="2011680" cy="3017520"/>
          </a:xfrm>
          <a:prstGeom prst="roundRect">
            <a:avLst>
              <a:gd name="adj" fmla="val 6364"/>
            </a:avLst>
          </a:prstGeom>
          <a:solidFill>
            <a:srgbClr val="F8FAFC"/>
          </a:solidFill>
          <a:ln w="190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187452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03720" y="2432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District Health Officers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7068312" y="2816352"/>
            <a:ext cx="16916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IDSP lag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hyperlocal data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outbreak signals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GAP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Existing Solution Closes the Full Loop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VitalBridge is the only platform integrating all critical dimensions.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64208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  <a:gridCol w="1325880"/>
                <a:gridCol w="1325880"/>
                <a:gridCol w="13258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Telemedicine Apps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EMR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 ABHA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VitalBridge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A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No-App Triage (WhatsApp)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A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Indian Languages + Voice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A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A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Patient-Owned Federated Record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A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A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Medication Adherence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A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Outbreak Surveillance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A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Wearable Vitals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A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ABDM Compliant + FHIR R4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A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A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Interaction Checker (NEW)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A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A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Readmission Risk (NEW)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VitalBridge: A Closed-Loop Healthcare Continuum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symptom → diagnosis → treatment → adherence → population health — one integrated platform.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993392" cy="2194560"/>
          </a:xfrm>
          <a:prstGeom prst="roundRect">
            <a:avLst>
              <a:gd name="adj" fmla="val 6422"/>
            </a:avLst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15568" y="1847088"/>
            <a:ext cx="658368" cy="658368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847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088" y="19202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5786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Symptom Triage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2980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Voice in 5 languages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606040" y="1737360"/>
            <a:ext cx="1993392" cy="219456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64408" y="1847088"/>
            <a:ext cx="658368" cy="658368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64408" y="1847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28" y="19202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97480" y="25786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Health Passport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697480" y="2980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Patient-owned encrypted records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754880" y="1737360"/>
            <a:ext cx="1993392" cy="2194560"/>
          </a:xfrm>
          <a:prstGeom prst="roundRect">
            <a:avLst>
              <a:gd name="adj" fmla="val 6422"/>
            </a:avLst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13248" y="1847088"/>
            <a:ext cx="658368" cy="658368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13248" y="1847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92024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46320" y="25786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Surveillance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846320" y="2980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72-hr outbreak early warning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903720" y="1737360"/>
            <a:ext cx="1993392" cy="219456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562088" y="1847088"/>
            <a:ext cx="658368" cy="658368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562088" y="1847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192024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95160" y="25786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Medication Adherence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995160" y="2980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₹300 smart pill dispenser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VitalBridge closes the loop India's healthcare system never closed.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1 — AI TRIAGE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Zero-Friction Symptom Triage for Every Indian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download. No literacy required. Works on any basic phone in 5 languages.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57600" cy="3017520"/>
          </a:xfrm>
          <a:prstGeom prst="roundRect">
            <a:avLst>
              <a:gd name="adj" fmla="val 4242"/>
            </a:avLst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8013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VitalBridge 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167128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219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Namaste! Kya takleef hai?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17320" y="278892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2A406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284378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Bukhaar aur sar dard — 2 din 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" y="3410712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6557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102°F? Dengue/flu symptoms. Doctor connect kar raha hoon 🏥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43400" y="1691640"/>
            <a:ext cx="4343400" cy="658368"/>
          </a:xfrm>
          <a:prstGeom prst="roundRect">
            <a:avLst>
              <a:gd name="adj" fmla="val 13889"/>
            </a:avLst>
          </a:prstGeom>
          <a:solidFill>
            <a:srgbClr val="F0FDFA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847088"/>
            <a:ext cx="347472" cy="3474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892040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Grok AI Engine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92040" y="2039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streaming responses — zero canned replies. Multi-turn clinical context.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343400" y="2441448"/>
            <a:ext cx="43434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596896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92040" y="2532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+ Voice IVR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892040" y="2788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 WhatsApp users. Works on 2G, any basic phone, zero install.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343400" y="3191256"/>
            <a:ext cx="4343400" cy="658368"/>
          </a:xfrm>
          <a:prstGeom prst="roundRect">
            <a:avLst>
              <a:gd name="adj" fmla="val 13889"/>
            </a:avLst>
          </a:prstGeom>
          <a:solidFill>
            <a:srgbClr val="F0FDFA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346704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92040" y="3282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Indian Languages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892040" y="3538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Tamil, Telugu, Kannada, Bengali — auto-detected per message.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343400" y="3941064"/>
            <a:ext cx="43434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4096512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92040" y="4032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Auto-Escalation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892040" y="4288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High-severity → real Doctor Queue entry in DB + WebSocket broadcast.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LAYERS 2 &amp;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Health Passport &amp; Disease Surveillance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Patient-owned records + real-time outbreak detection 72 hours ahead of IDSP.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4023360" cy="3200400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105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🛡  Federated Health Passport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5915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3225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 Health ID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05840" y="25603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encrypted record issued at first interaction</a:t>
            </a:r>
            <a:endParaRPr lang="en-US" sz="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2666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29900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Architecture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005840" y="32278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never leaves their device. PySyft privacy-preserving ML</a:t>
            </a:r>
            <a:endParaRPr lang="en-US" sz="8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9417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36576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Wearable Integration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1005840" y="38953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 / Noise smartbands, glucometer, BP cuffs via BLE</a:t>
            </a:r>
            <a:endParaRPr lang="en-US" sz="8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6168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43251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FHIR R4 Standard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1005840" y="45628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doctor, any hospital sees full history instantly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4663440" y="1664208"/>
            <a:ext cx="4023360" cy="32004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4846320" y="18105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📡  Disease Surveillance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846320" y="2240280"/>
            <a:ext cx="173736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846320" y="2313432"/>
            <a:ext cx="17373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hrs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4846320" y="271805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2-week IDSP lag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720840" y="2240280"/>
            <a:ext cx="173736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720840" y="2313432"/>
            <a:ext cx="17373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km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6720840" y="271805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outbreak radius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846320" y="324612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symptom signals aggregated across geography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fever+cough in 5km / 48hrs → outbreak flag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 dashboard with district-level heatmaps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Leaflet.heat heatmap — intensity driven by Outbreak Probability Score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Auto-alert banner fires at 70%+ probability score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4 — IoT ADHERENCE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Medication Adherence &amp; Remote Monitoring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prescription only works if the patient actually takes the medicine.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64792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&lt;40%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24485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adherence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rural India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169164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764792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06040" y="224485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improvement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VitalBridge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764792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54880" y="224485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pill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dispenser cost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03720" y="169164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764792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03720" y="224485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wearable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9748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090672"/>
            <a:ext cx="34747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24128" y="3063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Pill Dispenser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1792" y="3456432"/>
            <a:ext cx="242316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BLE+WiFi. Time-locked compartments. State machine: LOCKED→DOSE_WINDOW→DISPENSED/MISSED. Real BLE GATT event schema.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291840" y="2926080"/>
            <a:ext cx="269748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3090672"/>
            <a:ext cx="347472" cy="34747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858768" y="3063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Alerts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3456432" y="3456432"/>
            <a:ext cx="242316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dose → AlertRecord in DB → instant WhatsApp to family + nearest ASHA worker. Zero additional cost.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6126480" y="2926080"/>
            <a:ext cx="269748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090672"/>
            <a:ext cx="347472" cy="3474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693408" y="3063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Wearable Sync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291072" y="3456432"/>
            <a:ext cx="242316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glucometer for diabetics. Automatic BP cuff for hypertension. Readings flow directly into Health Passport.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 Diagram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· Event-Driven · Federated · ABDM Compliant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103120" y="1664208"/>
            <a:ext cx="2084832" cy="713232"/>
          </a:xfrm>
          <a:prstGeom prst="roundRect">
            <a:avLst>
              <a:gd name="adj" fmla="val 12821"/>
            </a:avLst>
          </a:prstGeom>
          <a:solidFill>
            <a:srgbClr val="1A2E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73736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· Voice IVR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89120" y="1664208"/>
            <a:ext cx="2084832" cy="713232"/>
          </a:xfrm>
          <a:prstGeom prst="roundRect">
            <a:avLst>
              <a:gd name="adj" fmla="val 12821"/>
            </a:avLst>
          </a:prstGeom>
          <a:solidFill>
            <a:srgbClr val="1A2E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73736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675120" y="1664208"/>
            <a:ext cx="2084832" cy="713232"/>
          </a:xfrm>
          <a:prstGeom prst="roundRect">
            <a:avLst>
              <a:gd name="adj" fmla="val 12821"/>
            </a:avLst>
          </a:prstGeom>
          <a:solidFill>
            <a:srgbClr val="1A2E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73736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Portal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Viewer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7614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AI Layer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03120" y="2505456"/>
            <a:ext cx="2084832" cy="713232"/>
          </a:xfrm>
          <a:prstGeom prst="roundRect">
            <a:avLst>
              <a:gd name="adj" fmla="val 12821"/>
            </a:avLst>
          </a:prstGeom>
          <a:solidFill>
            <a:srgbClr val="1A2E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2578608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Engine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API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89120" y="2505456"/>
            <a:ext cx="2084832" cy="713232"/>
          </a:xfrm>
          <a:prstGeom prst="roundRect">
            <a:avLst>
              <a:gd name="adj" fmla="val 12821"/>
            </a:avLst>
          </a:prstGeom>
          <a:solidFill>
            <a:srgbClr val="1A2E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2578608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75120" y="2505456"/>
            <a:ext cx="2084832" cy="713232"/>
          </a:xfrm>
          <a:prstGeom prst="roundRect">
            <a:avLst>
              <a:gd name="adj" fmla="val 12821"/>
            </a:avLst>
          </a:prstGeom>
          <a:solidFill>
            <a:srgbClr val="1A2E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578608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Gateway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BLE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6027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8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103120" y="3346704"/>
            <a:ext cx="2084832" cy="713232"/>
          </a:xfrm>
          <a:prstGeom prst="roundRect">
            <a:avLst>
              <a:gd name="adj" fmla="val 12821"/>
            </a:avLst>
          </a:prstGeom>
          <a:solidFill>
            <a:srgbClr val="1A2E40"/>
          </a:solidFill>
          <a:ln w="12700">
            <a:solidFill>
              <a:srgbClr val="5B8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341985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389120" y="3346704"/>
            <a:ext cx="2084832" cy="713232"/>
          </a:xfrm>
          <a:prstGeom prst="roundRect">
            <a:avLst>
              <a:gd name="adj" fmla="val 12821"/>
            </a:avLst>
          </a:prstGeom>
          <a:solidFill>
            <a:srgbClr val="1A2E40"/>
          </a:solidFill>
          <a:ln w="12700">
            <a:solidFill>
              <a:srgbClr val="5B8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341985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75120" y="3346704"/>
            <a:ext cx="2084832" cy="713232"/>
          </a:xfrm>
          <a:prstGeom prst="roundRect">
            <a:avLst>
              <a:gd name="adj" fmla="val 12821"/>
            </a:avLst>
          </a:prstGeom>
          <a:solidFill>
            <a:srgbClr val="1A2E40"/>
          </a:solidFill>
          <a:ln w="12700">
            <a:solidFill>
              <a:srgbClr val="5B8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41985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44439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Infra Layer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103120" y="4187952"/>
            <a:ext cx="2084832" cy="713232"/>
          </a:xfrm>
          <a:prstGeom prst="roundRect">
            <a:avLst>
              <a:gd name="adj" fmla="val 12821"/>
            </a:avLst>
          </a:prstGeom>
          <a:solidFill>
            <a:srgbClr val="1A2E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4261104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PySyft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ML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389120" y="4187952"/>
            <a:ext cx="2084832" cy="713232"/>
          </a:xfrm>
          <a:prstGeom prst="roundRect">
            <a:avLst>
              <a:gd name="adj" fmla="val 12821"/>
            </a:avLst>
          </a:prstGeom>
          <a:solidFill>
            <a:srgbClr val="1A2E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4261104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K8s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India Region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75120" y="4187952"/>
            <a:ext cx="2084832" cy="713232"/>
          </a:xfrm>
          <a:prstGeom prst="roundRect">
            <a:avLst>
              <a:gd name="adj" fmla="val 12821"/>
            </a:avLst>
          </a:prstGeom>
          <a:solidFill>
            <a:srgbClr val="1A2E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4261104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/ FHIR R4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4617720"/>
            <a:ext cx="8229600" cy="292608"/>
          </a:xfrm>
          <a:prstGeom prst="roundRect">
            <a:avLst>
              <a:gd name="adj" fmla="val 25000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AES-256 · DPDP Act · HIPAA · RBAC · Zero-Knowledge Proof · JWT Auth · Pydantic v2 Validation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TECHNOLOGY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Enterprise-Grade, Open-Source-First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scale, interoperability, and India's data sovereignty requirements.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739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75564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4360" y="2121408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(Patient + ASHA)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Vite (Doctor Portal)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(Triage Bot)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Voice API (IVR — 5 languages)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337560" y="1664208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F0FDF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7739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13048" y="175564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474720" y="2121408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API via OpenAI-compatible SDK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Random Forest (Risk + Readmission)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langdetect (Hindi/English auto-detect)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PySyft (Federated Learning — Privacy)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217920" y="1664208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7393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93408" y="175564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Data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355080" y="2121408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3.11+) Microservices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SQLAlchemy + Alembic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Real-Time Event Streaming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Health Record Interoperability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57200" y="3383280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F0FDF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493008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2688" y="34747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&amp; Hardware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94360" y="3840480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BLE+WiFi Smart Dispenser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Wearable SDK (boAt / Noise)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₹300 Smart Pill Dispenser Prototype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BLE GATT schema → real hardware ready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3337560" y="3383280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493008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13048" y="34747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3474720" y="3840480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India Region (Data Sovereignty)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 (Container Orchestration)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+ ChromaDB (Vector Search)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docker-compose up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6217920" y="3383280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493008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693408" y="34747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6355080" y="3840480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(At Rest + Transit)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HIPAA-Aligned + DPDP Act Compliant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 (Health ID Verify)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across all portals + HMAC-SHA256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6-Month Execution Plan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with working prototypes at every milestone.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00200" cy="3017520"/>
          </a:xfrm>
          <a:prstGeom prst="roundRect">
            <a:avLst>
              <a:gd name="adj" fmla="val 6857"/>
            </a:avLst>
          </a:prstGeom>
          <a:solidFill>
            <a:srgbClr val="1A2E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1801368"/>
            <a:ext cx="640080" cy="640080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801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237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27797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Foundation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3145536"/>
            <a:ext cx="1371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AI triage bot (Hindi + Tamil)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Passport backend (FastAPI + PostgreSQL)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data schema implementation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94560" y="1664208"/>
            <a:ext cx="1600200" cy="3017520"/>
          </a:xfrm>
          <a:prstGeom prst="roundRect">
            <a:avLst>
              <a:gd name="adj" fmla="val 6857"/>
            </a:avLst>
          </a:prstGeom>
          <a:solidFill>
            <a:srgbClr val="1A2E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70048" y="1801368"/>
            <a:ext cx="640080" cy="640080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1801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25237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286000" y="27797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&amp; Monitor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04288" y="3145536"/>
            <a:ext cx="1371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Telugu, Kannada, Bengali support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 surveillance dashboard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real-time event streaming pipeline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931920" y="1664208"/>
            <a:ext cx="1600200" cy="3017520"/>
          </a:xfrm>
          <a:prstGeom prst="roundRect">
            <a:avLst>
              <a:gd name="adj" fmla="val 6857"/>
            </a:avLst>
          </a:prstGeom>
          <a:solidFill>
            <a:srgbClr val="1A2E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07408" y="1801368"/>
            <a:ext cx="640080" cy="640080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7408" y="1801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23360" y="25237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23360" y="27797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Hardware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041648" y="3145536"/>
            <a:ext cx="1371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pill dispenser prototype (ESP32)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integration (boAt / Noise SDK)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PySyft federated learning privacy layer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669280" y="1664208"/>
            <a:ext cx="1600200" cy="3017520"/>
          </a:xfrm>
          <a:prstGeom prst="roundRect">
            <a:avLst>
              <a:gd name="adj" fmla="val 6857"/>
            </a:avLst>
          </a:prstGeom>
          <a:solidFill>
            <a:srgbClr val="1A2E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44768" y="1801368"/>
            <a:ext cx="640080" cy="640080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1801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60720" y="25237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760720" y="27797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Program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79008" y="3145536"/>
            <a:ext cx="1371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2 PHCs (Tamil Nadu + UP)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500 beta patients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 training program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406640" y="1664208"/>
            <a:ext cx="1600200" cy="3017520"/>
          </a:xfrm>
          <a:prstGeom prst="roundRect">
            <a:avLst>
              <a:gd name="adj" fmla="val 6857"/>
            </a:avLst>
          </a:prstGeom>
          <a:solidFill>
            <a:srgbClr val="1A3A2A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82128" y="1801368"/>
            <a:ext cx="640080" cy="640080"/>
          </a:xfrm>
          <a:prstGeom prst="oval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82128" y="1801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98080" y="25237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498080" y="27797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Integrate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16368" y="3145536"/>
            <a:ext cx="1371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full integration + ABHA linking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districts — 10,000+ active patients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preparation with impact data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Prototype: WhatsApp AI Triage Bot + Health Passport Dashboard + Live Kafka Streaming Pipeline + F7–F11 Extensions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EXPECTED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That Changes Lives at Scale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Quantifiable outcomes across every layer of the platform.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00000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19202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10M+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29285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patients with first-time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access in Year 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1664208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0000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737360"/>
            <a:ext cx="19202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06040" y="229285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late-stage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diagnosis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664208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00000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737360"/>
            <a:ext cx="19202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54880" y="229285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chronic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medication adherence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03720" y="1664208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00000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737360"/>
            <a:ext cx="19202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hrs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03720" y="229285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 warning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2-week IDSP lag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Government Alignment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593592"/>
            <a:ext cx="347472" cy="34747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24128" y="3566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ABDM Compliant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1792" y="395935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interoperable with Ayushman Bharat Digital Mission — enabling government partnership from Day 1.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291840" y="34290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3593592"/>
            <a:ext cx="347472" cy="3474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858768" y="3566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NDHA Integration Ready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456432" y="395935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FHIR R4 standard mandated by National Digital Health Authority for all new platforms.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126480" y="34290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593592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693408" y="3566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PM-JAY Compatible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291072" y="395935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within Pradhan Mantri Jan Arogya Yojana — serving 500M+ beneficiaries directly.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INNOVATION &amp; USP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VitalBridge Truly Different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exclusive capabilities — no other platform delivers all of them together.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2743200" cy="1536192"/>
          </a:xfrm>
          <a:prstGeom prst="roundRect">
            <a:avLst>
              <a:gd name="adj" fmla="val 7143"/>
            </a:avLst>
          </a:prstGeom>
          <a:solidFill>
            <a:srgbClr val="1A2E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55648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556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first</a:t>
            </a:r>
            <a:endParaRPr lang="en-US" sz="7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02996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4128" y="20116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Zero-App Triage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792" y="243230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basic phone via WhatsApp or Voice IVR — no smartphone, no download, no literacy required.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55848" y="1664208"/>
            <a:ext cx="2743200" cy="1536192"/>
          </a:xfrm>
          <a:prstGeom prst="roundRect">
            <a:avLst>
              <a:gd name="adj" fmla="val 7143"/>
            </a:avLst>
          </a:prstGeom>
          <a:solidFill>
            <a:srgbClr val="1A2E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65576" y="1755648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65576" y="17556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India-exclusive</a:t>
            </a:r>
            <a:endParaRPr lang="en-US" sz="7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02996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22776" y="20116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5-Language Voice AI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520440" y="243230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Tamil, Telugu, Kannada, Bengali — 85% of India natively with fine-tuned medical NLU.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254496" y="1664208"/>
            <a:ext cx="2743200" cy="1536192"/>
          </a:xfrm>
          <a:prstGeom prst="roundRect">
            <a:avLst>
              <a:gd name="adj" fmla="val 7143"/>
            </a:avLst>
          </a:prstGeom>
          <a:solidFill>
            <a:srgbClr val="1A2E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64224" y="1755648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364224" y="17556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Patent-worthy</a:t>
            </a:r>
            <a:endParaRPr lang="en-US" sz="7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02996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21424" y="20116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Health Passport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419088" y="243230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never leaves their device. PySyft privacy-preserving ML — privacy AND portability.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457200" y="3355848"/>
            <a:ext cx="2743200" cy="1536192"/>
          </a:xfrm>
          <a:prstGeom prst="roundRect">
            <a:avLst>
              <a:gd name="adj" fmla="val 7143"/>
            </a:avLst>
          </a:prstGeom>
          <a:solidFill>
            <a:srgbClr val="1A2E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66928" y="3447288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66928" y="34472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adherence</a:t>
            </a:r>
            <a:endParaRPr lang="en-US" sz="7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72160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24128" y="37033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₹300 IoT Pill Dispenser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21792" y="412394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smart dispenser with time-locked doses, BLE sync, and WhatsApp miss alerts at ultralow cost.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3355848" y="3355848"/>
            <a:ext cx="2743200" cy="1536192"/>
          </a:xfrm>
          <a:prstGeom prst="roundRect">
            <a:avLst>
              <a:gd name="adj" fmla="val 7143"/>
            </a:avLst>
          </a:prstGeom>
          <a:solidFill>
            <a:srgbClr val="1A2E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465576" y="3447288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465576" y="34472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2-wk IDSP lag</a:t>
            </a:r>
            <a:endParaRPr lang="en-US" sz="75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721608"/>
            <a:ext cx="329184" cy="32918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922776" y="37033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72-Hr Outbreak Detection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3520440" y="412394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Kafka-powered surveillance — 72 hrs ahead of the 2-week IDSP lag. Saves lives before crises spread.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6254496" y="3355848"/>
            <a:ext cx="2743200" cy="1536192"/>
          </a:xfrm>
          <a:prstGeom prst="roundRect">
            <a:avLst>
              <a:gd name="adj" fmla="val 7143"/>
            </a:avLst>
          </a:prstGeom>
          <a:solidFill>
            <a:srgbClr val="1A2E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364224" y="3447288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364224" y="34472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Day-1 gov ready</a:t>
            </a:r>
            <a:endParaRPr lang="en-US" sz="75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3721608"/>
            <a:ext cx="329184" cy="32918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821424" y="37033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ABDM Compliance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6419088" y="412394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+ ABDM + DPDP Act + HIPAA + ZKP. Government-ready from Day 1.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Revenue Beyond the Hackathon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streams aligned with India's public health infrastructure.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974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0195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B2G SaaS — Government PHCs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" y="2267712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 per Primary Health Centre. Target: 25,000 PHCs × ₹5,000/month = ₹125 Cr ARR potential.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1737360"/>
            <a:ext cx="26974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90195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58768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 Partnership — Adherence Data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456432" y="2267712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Revenue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Anonymized, aggregated medication adherence analytics to pharma companies. Privacy-preserving via federated learning.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1737360"/>
            <a:ext cx="26974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90195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93408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Hardware — Pill Dispenser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291072" y="2267712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Revenue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₹300 dispenser sold at cost to government/NGOs. Revenue via ₹50/month connectivity + ₹30/month maintenance SLA.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Target: ₹50L ARR via 100 PHC pilots   |   Year 3 Target: ₹125 Cr ARR via national rollout + pharma data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RISKS &amp; MITIGATION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Challenges — We Have Answers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risk management across technical, operational, and regulatory dimensions.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4937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Privacy Breach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A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 encryption + DPDP Act + PySyft federated learning — data never leaves patient device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Low-Connectivity Rural Areas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A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Offline-first triage; WhatsApp on 2G; ESP32 caches locally and syncs when connected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Model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A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 on Indian medical corpus + human-in-the-loop escalation; doctors verify AI before treatment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Hardware Distribution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A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 with ASHA workers + PHCs; government procurement via NHM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Approval (CDSCO)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A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Positioned as decision-support tool — avoids Class B/C medical device classification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/ Third-Party Failure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A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Redundant fallback: WhatsApp→SMS→IVR; multiple cloud providers; Redis cache for offline resilience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FUTURE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MVP — VitalBridge at National Scale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innovations that will expand reach, accuracy, and impact.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274320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2880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8013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Diagnostic Enhancements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" y="2194560"/>
            <a:ext cx="246888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camera retinal scan for diabetic retinopathy. Skin lesion analysis. On-device Llama for offline diagnosis.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55848" y="1664208"/>
            <a:ext cx="274320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82880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22776" y="18013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Language Expansion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520440" y="2194560"/>
            <a:ext cx="246888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from 5 to 22 scheduled Indian languages. Regional dialect adaptation using community-trained voice models.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54496" y="1664208"/>
            <a:ext cx="274320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82880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21424" y="18013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Population Health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419088" y="2194560"/>
            <a:ext cx="246888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chronic disease burden prediction. Seasonal outbreak forecasting using 3-year historical data + climate signals.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57200" y="3355848"/>
            <a:ext cx="274320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52044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24128" y="34930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Health Worker AI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21792" y="3886200"/>
            <a:ext cx="246888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co-pilot for ASHA workers — guided household visits, automated report generation, voice-based data entry.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355848" y="3355848"/>
            <a:ext cx="274320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52044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22776" y="34930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Cross-Border Health Intelligence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520440" y="3886200"/>
            <a:ext cx="246888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SAARC-level disease surveillance network for cross-border outbreak early warning (Bangladesh, Nepal, Myanmar).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254496" y="3355848"/>
            <a:ext cx="274320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3520440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21424" y="34930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Series A &amp; National Rollout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419088" y="3886200"/>
            <a:ext cx="246888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₹15 Cr Series A backed by impact metrics. Target 5 states, 50,000 patients by Month 18. NHA MoU by Year 2.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oval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VitalBridge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Platform — Production-Grade Foundation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Integrated Layers · 6 Core Features · Zero Mock Data · One-Command Docker Deployment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774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71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37744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0" y="2971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Passport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7744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0" y="2971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377440"/>
            <a:ext cx="548640" cy="5486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00800" y="2971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Adherence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F7–F11 Extension Set follows →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CIPHER STRIKE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E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Jayaraj A · Jerwin Titus D · Daphne Christina Nelson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E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Karunya Institute of Technology and Sciences · Bharat Academix CodeQuest 2026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oval">
            <a:avLst/>
          </a:prstGeom>
          <a:solidFill>
            <a:srgbClr val="0D7A70">
              <a:alpha val="60000"/>
            </a:srgbClr>
          </a:solidFill>
          <a:ln w="12700">
            <a:solidFill>
              <a:srgbClr val="0D7A7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oval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EXTENSION SET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143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7–11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Proactive. Intelligent. Prevention-First.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8346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— Drug Interaction Checker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 — Predictive 14-Day Readmission Risk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— Household Health Graph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 — AI Doctor Handoff Notes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F11 — Vaccination Drive Planner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F7 — NEW FEATURE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Interaction Checker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drug combinations flagged before the prescription is saved — zero external API, fully offline.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4114800" cy="3200400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013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12848"/>
            <a:ext cx="310896" cy="310896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4128" y="22128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types new medication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24128" y="23957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captures drug name on tab-out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2724912"/>
            <a:ext cx="310896" cy="310896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27249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background check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24128" y="290779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/api/prescriptions/check-interactions fires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236976"/>
            <a:ext cx="310896" cy="310896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4128" y="32369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→ Red modal blocks save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24128" y="34198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"⚠ Dangerous Interaction — please review"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310896" cy="310896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" y="37490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→ amber inline warning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24128" y="39319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block submission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0080" y="4261104"/>
            <a:ext cx="310896" cy="310896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4128" y="4261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logged in DB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24128" y="444398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InteractionOverride table with doctor ID + reason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1664208"/>
            <a:ext cx="3931920" cy="713232"/>
          </a:xfrm>
          <a:prstGeom prst="roundRect">
            <a:avLst>
              <a:gd name="adj" fmla="val 12821"/>
            </a:avLst>
          </a:prstGeom>
          <a:solidFill>
            <a:srgbClr val="FFF5F5"/>
          </a:solidFill>
          <a:ln w="9525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847088"/>
            <a:ext cx="320040" cy="3200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285232" y="17373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~200 Drug Pairs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285232" y="19933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JSON bundled at backend. Sourced from WHO Essential Medicines + OpenFDA. Fully offline — zero PHI leaves the server.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754880" y="2459736"/>
            <a:ext cx="3931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642616"/>
            <a:ext cx="320040" cy="32004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285232" y="25328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New: InteractionOverride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5285232" y="27889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prescription_id · drug_a · drug_b · severity · override_reason · doctor_id · timestamp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4754880" y="3255264"/>
            <a:ext cx="3931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438144"/>
            <a:ext cx="320040" cy="32004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285232" y="33284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endpoint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5285232" y="35844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/api/prescriptions/check-interactions → { interactions: [{ drug_a, drug_b, severity, description }] }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4754880" y="4050792"/>
            <a:ext cx="3931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233672"/>
            <a:ext cx="320040" cy="32004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285232" y="41239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signal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5285232" y="43799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harmful prescriptions at point-of-care — addresses a leading cause of preventable hospital readmissions.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F8 — NEW FEATURE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14-Day Readmission Risk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predicts hospital visit likelihood — ASHA workers alerted before a crisis happens.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4754880" cy="1005840"/>
          </a:xfrm>
          <a:prstGeom prst="roundRect">
            <a:avLst>
              <a:gd name="adj" fmla="val 10909"/>
            </a:avLst>
          </a:prstGeom>
          <a:solidFill>
            <a:srgbClr val="1A2E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842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7739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ML Model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8992" y="208483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at app startup on synthetic seed data. 7 features: missed doses, high-severity triages, abnormal vitals, age, chronic conditions, PHC visit recency, risk score band.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7200" y="2779776"/>
            <a:ext cx="4754880" cy="1005840"/>
          </a:xfrm>
          <a:prstGeom prst="roundRect">
            <a:avLst>
              <a:gd name="adj" fmla="val 10909"/>
            </a:avLst>
          </a:prstGeom>
          <a:solidFill>
            <a:srgbClr val="1A2E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09981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28895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Nightly APScheduler Job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78992" y="320040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for all active patients every night. Saves to ReadmissionPrediction table with feature_snapshot_json for explainability.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3895344"/>
            <a:ext cx="4754880" cy="1005840"/>
          </a:xfrm>
          <a:prstGeom prst="roundRect">
            <a:avLst>
              <a:gd name="adj" fmla="val 10909"/>
            </a:avLst>
          </a:prstGeom>
          <a:solidFill>
            <a:srgbClr val="1A2E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1538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78992" y="40050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 ASHA Alert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078992" y="431596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&gt; 70% probability → WhatsApp Business API alert: "High risk of needing attention in 2 weeks. Please schedule a home visit."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5394960" y="1664208"/>
            <a:ext cx="3291840" cy="3346704"/>
          </a:xfrm>
          <a:prstGeom prst="roundRect">
            <a:avLst>
              <a:gd name="adj" fmla="val 3333"/>
            </a:avLst>
          </a:prstGeom>
          <a:solidFill>
            <a:srgbClr val="15243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486400" y="1801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Portal — Patient List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532120" y="2212848"/>
            <a:ext cx="3017520" cy="621792"/>
          </a:xfrm>
          <a:prstGeom prst="roundRect">
            <a:avLst>
              <a:gd name="adj" fmla="val 11765"/>
            </a:avLst>
          </a:prstGeom>
          <a:solidFill>
            <a:srgbClr val="1E304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650992" y="2395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R.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132320" y="2414016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132320" y="24140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532120" y="2990088"/>
            <a:ext cx="3017520" cy="621792"/>
          </a:xfrm>
          <a:prstGeom prst="roundRect">
            <a:avLst>
              <a:gd name="adj" fmla="val 11765"/>
            </a:avLst>
          </a:prstGeom>
          <a:solidFill>
            <a:srgbClr val="1E304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650992" y="3172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Rajan K.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132320" y="3191256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132320" y="31912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5532120" y="3767328"/>
            <a:ext cx="3017520" cy="621792"/>
          </a:xfrm>
          <a:prstGeom prst="roundRect">
            <a:avLst>
              <a:gd name="adj" fmla="val 11765"/>
            </a:avLst>
          </a:prstGeom>
          <a:solidFill>
            <a:srgbClr val="1E304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650992" y="39502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Meena S.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7132320" y="3968496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132320" y="39684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39496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E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→ feature breakdown panel: "Missed 4 doses this week contributes most to this score"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F9 — NEW FEATURE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 Health Graph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workers track entire family units — see aggregate risk, prioritize which households to visit first.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4023360" cy="3200400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01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Data Model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4086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3042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 table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05840" y="25420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village · district · address · asha_worker_id · last_asha_visit</a:t>
            </a:r>
            <a:endParaRPr lang="en-US" sz="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0837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29718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HouseholdMember join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005840" y="32095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household_id · patient_id · relationship</a:t>
            </a:r>
            <a:endParaRPr lang="en-US" sz="8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7588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36393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 risk score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1005840" y="38770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as MAX individual risk score — if any member is red, household is red</a:t>
            </a:r>
            <a:endParaRPr lang="en-US" sz="8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4340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43068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VisitLog record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1005840" y="45445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logs each visit — updates last_asha_visit timestamp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4663440" y="1664208"/>
            <a:ext cx="4023360" cy="32004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4846320" y="1801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ASHA Dashboard — Households Tab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800600" y="2231136"/>
            <a:ext cx="37490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4956048" y="232257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Raja St, Thanjavur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956048" y="2615184"/>
            <a:ext cx="201168" cy="201168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248656" y="2615184"/>
            <a:ext cx="201168" cy="20116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541264" y="2615184"/>
            <a:ext cx="201168" cy="201168"/>
          </a:xfrm>
          <a:prstGeom prst="oval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406640" y="2551176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406640" y="25511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4956048" y="298094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visit: 8 days ago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4800600" y="3465576"/>
            <a:ext cx="37490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4956048" y="355701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Gandhi Nagar, Trichy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956048" y="3849624"/>
            <a:ext cx="201168" cy="20116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248656" y="3849624"/>
            <a:ext cx="201168" cy="201168"/>
          </a:xfrm>
          <a:prstGeom prst="oval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406640" y="3785616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406640" y="37856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4956048" y="42153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visit: 2 days ago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F10 — NEW FEATURE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Doctor Handoff Notes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clinical summary when a High-severity triage is escalated — doctor has full context in under 10 seconds.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4114800" cy="3200400"/>
          </a:xfrm>
          <a:prstGeom prst="roundRect">
            <a:avLst>
              <a:gd name="adj" fmla="val 4000"/>
            </a:avLst>
          </a:prstGeom>
          <a:solidFill>
            <a:srgbClr val="15243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01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Auto-Generation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237744" cy="237744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69264" y="22677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High-severity triage assessment fires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2807208"/>
            <a:ext cx="237744" cy="237744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07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69264" y="2788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Grok API call — non-blocking background task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328416"/>
            <a:ext cx="237744" cy="237744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28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69264" y="3310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stored in HandoffNote table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849624"/>
            <a:ext cx="237744" cy="237744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49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69264" y="38313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opens queue → card already populated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4370832"/>
            <a:ext cx="237744" cy="237744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70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69264" y="4352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"Mark as Reviewed" logs reviewed_by_doctor_id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1664208"/>
            <a:ext cx="3931920" cy="3200400"/>
          </a:xfrm>
          <a:prstGeom prst="roundRect">
            <a:avLst>
              <a:gd name="adj" fmla="val 4000"/>
            </a:avLst>
          </a:prstGeom>
          <a:solidFill>
            <a:srgbClr val="152434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1801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Grok Output — Structured Handoff Note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9472" y="22311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chief_complaint: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0" y="223113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3 days, headache, body ache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19472" y="26700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00800" y="267004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(onset progressive)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19472" y="3108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associated_symptoms: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00800" y="31089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Chills, myalgia, loss of appetite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19472" y="35478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red_flags: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00800" y="354787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102°F sustained, dengue suspect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19472" y="39867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suggested_exam: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00800" y="398678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 count, NS1 antigen test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19472" y="44256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ai_triage_summary: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00800" y="442569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severity — immediate consultation advised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919472" y="4663440"/>
            <a:ext cx="182880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4663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Mark as Reviewed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F11 — NEW FEATURE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Vaccination Drive Planner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health officers replace manual Excel planning with AI-prioritized outreach lists based on risk + demographics.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4663440" cy="749808"/>
          </a:xfrm>
          <a:prstGeom prst="roundRect">
            <a:avLst>
              <a:gd name="adj" fmla="val 12195"/>
            </a:avLst>
          </a:prstGeom>
          <a:solidFill>
            <a:srgbClr val="F0FDFA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653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755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Prioritized Patient List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" y="20482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age group, no recorded vaccination, sorted by risk score descending, with household address for geographic clustering.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46634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7157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606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Clustering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51560" y="28986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workers do area-by-area outreach efficiently — households on the same street batched together.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3364992"/>
            <a:ext cx="4663440" cy="749808"/>
          </a:xfrm>
          <a:prstGeom prst="roundRect">
            <a:avLst>
              <a:gd name="adj" fmla="val 12195"/>
            </a:avLst>
          </a:prstGeom>
          <a:solidFill>
            <a:srgbClr val="F0FDFA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56616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3456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Officer CSV Export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051560" y="37490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plan exportable. Officer selects subset → "Assign to ASHA Workers" → task appears in mobile dashboard.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57200" y="4215384"/>
            <a:ext cx="46634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416552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4306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ASHA Mobile Tasks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051560" y="45994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"Vaccination Tasks" tab shows assigned patients. "Mark Vaccinated" fires POST /api/vaccination/record and adds to FHIR Passport.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5303520" y="1664208"/>
            <a:ext cx="3383280" cy="3401568"/>
          </a:xfrm>
          <a:prstGeom prst="roundRect">
            <a:avLst>
              <a:gd name="adj" fmla="val 3243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5468112" y="17830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Polio Drive — Chennai District</a:t>
            </a:r>
            <a:endParaRPr lang="en-US" sz="9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13248" y="2139696"/>
          <a:ext cx="3154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11480"/>
                <a:gridCol w="502920"/>
                <a:gridCol w="868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ASHA Worker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 M., 3 months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Kavitha R.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Preethi S., 18mo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Kavitha R.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D., 2 yrs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Seetha 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Anjali K., 9mo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Seetha 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 R., 5 yrs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Kavitha R.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18"/>
          <p:cNvSpPr/>
          <p:nvPr/>
        </p:nvSpPr>
        <p:spPr>
          <a:xfrm>
            <a:off x="5394960" y="46817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patients total  |  Export CSV  |  Assign to ASHA Workers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92608"/>
          </a:xfrm>
          <a:prstGeom prst="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DEMO CHECKLIST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Integration Verified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console errors · Zero broken buttons · Zero hanging loaders · Zero mock data outside seed.py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4160520" cy="585216"/>
          </a:xfrm>
          <a:prstGeom prst="roundRect">
            <a:avLst>
              <a:gd name="adj" fmla="val 12500"/>
            </a:avLst>
          </a:prstGeom>
          <a:solidFill>
            <a:srgbClr val="1A2E40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19656"/>
            <a:ext cx="292608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1965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14400" y="17190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Input → Hindi AI Triage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97510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speaks → Devanagari transcript fills input → Grok streams Hindi response token-by-token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2340864"/>
            <a:ext cx="4160520" cy="585216"/>
          </a:xfrm>
          <a:prstGeom prst="roundRect">
            <a:avLst>
              <a:gd name="adj" fmla="val 12500"/>
            </a:avLst>
          </a:prstGeom>
          <a:solidFill>
            <a:srgbClr val="1A2E40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496312"/>
            <a:ext cx="292608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9631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14400" y="239572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Severity → Doctor Queue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6517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assesses High → real DB entry → WebSocket broadcasts to doctor portal without page refresh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160520" cy="585216"/>
          </a:xfrm>
          <a:prstGeom prst="roundRect">
            <a:avLst>
              <a:gd name="adj" fmla="val 12500"/>
            </a:avLst>
          </a:prstGeom>
          <a:solidFill>
            <a:srgbClr val="1A2E40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72968"/>
            <a:ext cx="292608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7296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14400" y="307238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Score Gauge Animates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32841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triage fires risk_score_service.py → Risk Gauge needle animates to Red band on doctor view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3694176"/>
            <a:ext cx="4160520" cy="585216"/>
          </a:xfrm>
          <a:prstGeom prst="roundRect">
            <a:avLst>
              <a:gd name="adj" fmla="val 12500"/>
            </a:avLst>
          </a:prstGeom>
          <a:solidFill>
            <a:srgbClr val="1A2E40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849624"/>
            <a:ext cx="292608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4962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14400" y="374904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+ QR Download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40050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generates PDF in &lt;2s · Hindi Devanagari renders correctly · QR code is scannable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4370832"/>
            <a:ext cx="4160520" cy="585216"/>
          </a:xfrm>
          <a:prstGeom prst="roundRect">
            <a:avLst>
              <a:gd name="adj" fmla="val 12500"/>
            </a:avLst>
          </a:prstGeom>
          <a:solidFill>
            <a:srgbClr val="1A2E40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526280"/>
            <a:ext cx="292608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52628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05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14400" y="442569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Prescription QR Verification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468172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 opens /verify/{token} → animated green checkmark → HMAC-SHA256 signature validates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800600" y="1664208"/>
            <a:ext cx="4160520" cy="585216"/>
          </a:xfrm>
          <a:prstGeom prst="roundRect">
            <a:avLst>
              <a:gd name="adj" fmla="val 12500"/>
            </a:avLst>
          </a:prstGeom>
          <a:solidFill>
            <a:srgbClr val="1A2E40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1819656"/>
            <a:ext cx="292608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81965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257800" y="17190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Outbreak Heatmap Alert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57800" y="197510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district &gt; 70% → auto-alert red banner fires: "⚠ Elevated outbreak risk — Score: 78%"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00600" y="2340864"/>
            <a:ext cx="4160520" cy="585216"/>
          </a:xfrm>
          <a:prstGeom prst="roundRect">
            <a:avLst>
              <a:gd name="adj" fmla="val 12500"/>
            </a:avLst>
          </a:prstGeom>
          <a:solidFill>
            <a:srgbClr val="1A2E40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92040" y="2496312"/>
            <a:ext cx="292608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49631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07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257800" y="239572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Dispenser State Machine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57800" y="26517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→ DOSE_WINDOW_OPEN → MISSED → AlertRecord in DB → family alert panel shows notification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00600" y="3017520"/>
            <a:ext cx="4160520" cy="585216"/>
          </a:xfrm>
          <a:prstGeom prst="roundRect">
            <a:avLst>
              <a:gd name="adj" fmla="val 12500"/>
            </a:avLst>
          </a:prstGeom>
          <a:solidFill>
            <a:srgbClr val="1A2E40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92040" y="3172968"/>
            <a:ext cx="292608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17296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08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257800" y="307238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Interaction Block (F7)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57800" y="332841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types Metformin for Warfarin patient → red modal blocks save before prescription is written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800600" y="3694176"/>
            <a:ext cx="4160520" cy="585216"/>
          </a:xfrm>
          <a:prstGeom prst="roundRect">
            <a:avLst>
              <a:gd name="adj" fmla="val 12500"/>
            </a:avLst>
          </a:prstGeom>
          <a:solidFill>
            <a:srgbClr val="1A2E40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92040" y="3849624"/>
            <a:ext cx="292608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384962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09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257800" y="374904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Readmission Risk Column (F8)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257800" y="40050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with 4 missed doses + 2 high triages → red 87% bar in doctor's patient list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00600" y="4370832"/>
            <a:ext cx="4160520" cy="585216"/>
          </a:xfrm>
          <a:prstGeom prst="roundRect">
            <a:avLst>
              <a:gd name="adj" fmla="val 12500"/>
            </a:avLst>
          </a:prstGeom>
          <a:solidFill>
            <a:srgbClr val="1A2E40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92040" y="4526280"/>
            <a:ext cx="292608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452628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257800" y="442569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Handoff Note Pre-populated (F10)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257800" y="468172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opens escalated queue → handoff card already shows chief complaint + red flags before reading chat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oval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oval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VitalBridge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35331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Indian deserves the same quality of healthcare that a city hospital provides.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VitalBridge is the bridge to solve Indian problems.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688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30358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</a:t>
            </a:r>
            <a:endParaRPr lang="en-US" sz="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24688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30358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Passport</a:t>
            </a:r>
            <a:endParaRPr lang="en-US" sz="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46888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11880" y="30358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468880"/>
            <a:ext cx="502920" cy="5029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57800" y="30358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Adherence</a:t>
            </a:r>
            <a:endParaRPr lang="en-US" sz="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468880"/>
            <a:ext cx="502920" cy="5029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03720" y="30358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F7–F11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</a:t>
            </a:r>
            <a:endParaRPr lang="en-US" sz="800" dirty="0"/>
          </a:p>
        </p:txBody>
      </p:sp>
      <p:sp>
        <p:nvSpPr>
          <p:cNvPr id="17" name="Shape 10"/>
          <p:cNvSpPr/>
          <p:nvPr/>
        </p:nvSpPr>
        <p:spPr>
          <a:xfrm>
            <a:off x="457200" y="3547872"/>
            <a:ext cx="1965960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457200" y="35661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10M+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457200" y="39136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Year 1</a:t>
            </a:r>
            <a:endParaRPr lang="en-US" sz="800" dirty="0"/>
          </a:p>
        </p:txBody>
      </p:sp>
      <p:sp>
        <p:nvSpPr>
          <p:cNvPr id="20" name="Shape 13"/>
          <p:cNvSpPr/>
          <p:nvPr/>
        </p:nvSpPr>
        <p:spPr>
          <a:xfrm>
            <a:off x="2606040" y="3547872"/>
            <a:ext cx="1965960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2606040" y="35661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72hrs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2606040" y="39136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 warning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4754880" y="3547872"/>
            <a:ext cx="1965960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4754880" y="35661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4754880" y="39136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diagnosis↓</a:t>
            </a:r>
            <a:endParaRPr lang="en-US" sz="800" dirty="0"/>
          </a:p>
        </p:txBody>
      </p:sp>
      <p:sp>
        <p:nvSpPr>
          <p:cNvPr id="26" name="Shape 19"/>
          <p:cNvSpPr/>
          <p:nvPr/>
        </p:nvSpPr>
        <p:spPr>
          <a:xfrm>
            <a:off x="6903720" y="3547872"/>
            <a:ext cx="1965960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903720" y="35661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6903720" y="39136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adherence↑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457200" y="43525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CIPHER STRIKE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4626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EC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Jayaraj A · AI/ML Engineer   |   Jerwin Titus D · Full Stack Developer   |   Daphne Christina Nelson · IoT &amp; Systems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457200" y="48737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Karunya Institute of Technology and Sciences  ·  Bharat Academix CodeQuest 2026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" dirty="0">
                <a:solidFill>
                  <a:srgbClr val="0D1B2A"/>
                </a:solidFill>
              </a:rPr>
              <a:t>Innovate. Build. Impact.</a:t>
            </a:r>
            <a:endParaRPr lang="en-US" sz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VitalBridge – Round 2</dc:title>
  <dc:subject>PptxGenJS Presentation</dc:subject>
  <dc:creator>PptxGenJS</dc:creator>
  <cp:lastModifiedBy>PptxGenJS</cp:lastModifiedBy>
  <cp:revision>1</cp:revision>
  <dcterms:created xsi:type="dcterms:W3CDTF">2026-06-22T17:48:01Z</dcterms:created>
  <dcterms:modified xsi:type="dcterms:W3CDTF">2026-06-22T17:48:01Z</dcterms:modified>
</cp:coreProperties>
</file>